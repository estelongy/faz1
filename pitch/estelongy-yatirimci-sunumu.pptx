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45720" cy="6858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Sağlıklı görünmenin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yeni adresi.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merkezli, dünyaya açılan estetik + longevity ekosistemi.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Yatırımcı &amp; CTO Sunumu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6035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Hazırlayan: Baş Mimar Ofisi  ·  Mayıs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Estetik sektörü güvensizlik üzerinde duruyor.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73152" cy="1920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103120" y="2057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Bilgi asimetrisi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03120" y="26060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hangi kliniğin gerçekten yetkin olduğunu bilmiyor; karar fiyat ve Instagram'a kalıyor.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828800"/>
            <a:ext cx="73152" cy="1920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863840" y="2057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Sertifikasyon boşluğu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863840" y="26060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sağlık turizminde dünya lideri; ama kalite çıtası, denetim ve standart yok.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023360"/>
            <a:ext cx="73152" cy="1920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206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103120" y="4251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Dağınık dijital alt yapı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03120" y="48006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Klinikler 5 ayrı yazılım kullanıyor: randevu, CRM, muhasebe, pazarlama, e-ticaret.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402336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4023360"/>
            <a:ext cx="73152" cy="1920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206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863840" y="4251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"Genç görünme" yarışı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863840" y="48006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Sektör estetiği görüntüye indirgemiş; sağlık ve longevity unutulmuş.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Yatırımcı Sunumu  · 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VIZYON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Sağlıklı görünmek &gt; genç görünmek.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669280" cy="4389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Estetik bir görüntü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meselesi değil,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longevity kültürünün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 parçasıdır.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5486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Estelongy Manifestosu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92240" y="1874520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0" y="1828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Bilim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0" y="22860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Tedavi, ürün ve hekim önerisi kanıta dayalı; pazarlama jargonuyla değil.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3383280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0" y="3337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Şeffaflık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0" y="379476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Fiyat, ehliyet, hasta yorumu ve sonuç verisi herkese açık.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4892040"/>
            <a:ext cx="640080" cy="64008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892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0" y="48463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Süreklilik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15200" y="530352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seferlik tedavi değil; hasta yolculuğu boyunca koruyucu bakım.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Yatırımcı Sunumu  · 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 bir uygulama değil — 5 katmanlı bir ekosistem.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46304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011680" y="1737360"/>
            <a:ext cx="9601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40280" y="2121408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Sektörün kalite çıtası: EGP sertifikasyonu, denetim, etik kod.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146304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7004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2011680" y="2670048"/>
            <a:ext cx="9601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27157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EKOSİSTEM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40280" y="3054096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Doğrulanmış klinikler, hekimler ve tedaviler — keşif &amp; randevu.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1463040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02736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2011680" y="3602736"/>
            <a:ext cx="9601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0280" y="364845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YOLCULUK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40280" y="3986784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deneyimi: konsültasyon, tedavi sonrası takip, hatırlatma.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35424"/>
            <a:ext cx="146304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535424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2011680" y="4535424"/>
            <a:ext cx="9601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0280" y="458114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240280" y="4919472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temelli cilt bakım ürünleri; hekim onaylı katalog.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468112"/>
            <a:ext cx="146304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468112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2011680" y="5468112"/>
            <a:ext cx="9601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40280" y="55138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240280" y="5852160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panel: randevu + CRM + muhasebe + EGP raporlama.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Yatırımcı Sunumu  · 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AYIRT EDICI ÖZELLIK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EGP — Estelongy Güven Puanı.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Sektörün IMDb skoru ne ise,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estetikte EGP odur.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veya tedavi için tek bir bağımsız güven göstergesi: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Bilimsel temel &amp; literatür gücü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99592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Hekim ehliyet ve deneyim profili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379976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Doğrulanmış hasta sonuç verisi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76402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Sürdürülebilirlik &amp; yan etki profili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14807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Şikayet/dava geçmişi &amp; denetim skoru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0" y="1737360"/>
            <a:ext cx="4754880" cy="44805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0" y="21945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 Dolgu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040880" y="28346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9.2 / 10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704088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— Estelongy Güven Puanı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0" y="4389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Booster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0" y="4389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47731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Güneş Koruyucu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0" y="477316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0" y="51572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Botoks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41280" y="515721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55412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Altın İğne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0" y="554126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Yatırımcı Sunumu  · 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İki büyük dalga aynı anda yükseliyor.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365760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$2.6B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estetik sağlık turizmi (2025)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4023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YBO %14, 2030'a kadar $5B+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737360"/>
            <a:ext cx="365760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0116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$610B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617720" y="3383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longevity pazarı (2025)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4023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YBO %6.7, 2030'a kadar $850B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737360"/>
            <a:ext cx="365760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0116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15.000+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8458200" y="33832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Türkiye'de estetik klinik &amp; hekim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58200" y="4023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Çoğu hâlâ Excel ile çalışıyor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349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Sağlık turizmi + longevity + SaaS dijitalleşmesi — üçü kesişen tek oyuncu yok.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Yatırımcı Sunumu  · 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MODELI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 hasta — üç gelir kanalı.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365760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Kredi sistemi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Klinikler Estelongy üzerinden hasta aldıkça kredi yakar. Ön ödemeli, marj yüksek.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5029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%40 brüt marj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5577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 paketleri €49 — €299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737360"/>
            <a:ext cx="365760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7830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26060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Hekim onaylı cilt bakım ürünleri. Satıcı komisyonu + lojistik.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5029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%15 komisyon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17720" y="5577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Connect entegre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73736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737360"/>
            <a:ext cx="3657600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17830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— Klinik Paneli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58200" y="26060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Randevu + CRM + muhasebe + EGP raporlama tek panelde.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58200" y="5029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€49/ay başlangıç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58200" y="5577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Yıllık ödemede %20 indirim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Yatırımcı Sunumu  · 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IÇIN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Üretimde çalışan modern bir altyapı.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3716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20240" y="1737360"/>
            <a:ext cx="6858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73736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App Router · TypeScript · Tailwind · React Server Components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37160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060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20240" y="2606040"/>
            <a:ext cx="6858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260604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 + RLS + Auth + Storage) · Edge Functions · Vercel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1371600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7472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920240" y="3474720"/>
            <a:ext cx="6858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347472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 + Connect · Webhook tabanlı kredi mutasyonu · Live mod hazır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3716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434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Mesajlaşma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20240" y="4343400"/>
            <a:ext cx="6858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434340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(primary) + Postmark (fallback) · Netgsm SMS · Upstash rate limit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137160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2120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920240" y="5212080"/>
            <a:ext cx="6858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521208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policy'leri owner_id bazlı · PKCE OAuth · DMARC/DKIM/SPF · audit log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52560" y="1737360"/>
            <a:ext cx="2560320" cy="4251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972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89720" y="2331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61320" y="2331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89720" y="28986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61320" y="28986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300ms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89720" y="34655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test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561320" y="34655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89720" y="40325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region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561320" y="40325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EU-Central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89720" y="4599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561320" y="45994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Vercel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89720" y="5166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561320" y="5166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Sentry + Logs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Yatırımcı Sunumu  · 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REKABET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Estetikte IMDb yok. Biz olacağız.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SINEMA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IMDb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skor. Karar mercii. Sektör buna göre konumlanır.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SEYAHAT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23317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Tripadvisor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63440" y="338328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Şeffaf yorum. Kalite skoru. Tüketici güvenini standartlaştırdı.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737360"/>
            <a:ext cx="3657600" cy="4114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ESTETIK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23317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Estelongy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503920" y="338328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+ ekosistem. Hastanın gerçek karar adresi olmak.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Doctolib randevuya odaklı, Realself ABD'ye sıkışmış. Türkiye'nin lokasyon avantajı + EGP'nin bilimsel derinliği = farklılaşma.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Yatırımcı Sunumu  · 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HARITASI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 1 üretimde. Faz 2 büyüme.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269748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&amp; Lansman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panel, kredi sistemi, marketplace MVP, KYC, ödeme altyapısı.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5669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TAMAMLANDI · estelongy.com canlı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737360"/>
            <a:ext cx="26974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1188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EGP &amp; Akademi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11880" y="28803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skorlama motoru v1, Estelongy Akademi (hekim eğitim), pilot 50 klinik.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5669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· Pilot başlangıç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737360"/>
            <a:ext cx="26974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737360"/>
            <a:ext cx="2697480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Ölçeklendirme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28803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genişleme, B2B SaaS satış ekibi, Avrupa açılım (DE/NL).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5669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 · 500 klinik hedef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89720" y="1737360"/>
            <a:ext cx="26974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1737360"/>
            <a:ext cx="2697480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7260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7260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Longevity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72600" y="288036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Genetik &amp; biomarker entegrasyon, koruyucu tıp protokolleri, sigorta ortaklık.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72600" y="5669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 · Global marka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Yatırımcı Sunumu  · 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Baş mimar yaklaşımı — strateji + mimari + üretim aynı çatıda.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Strateji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kararın "neden"i yazılı. Pozisyonlama 5 katmandan biri olmadan atılmaz.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3154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Mimari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36118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 → RLS → server actions → UI hattı tek elden. Teknik borç gözle görünür.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640080" cy="64008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663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4617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Üretim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50749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Auto-commit, auto-push, smoke test gate. Şu an üretimde, müşteri kullanıyor.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1737360"/>
            <a:ext cx="4754880" cy="4572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FELSEFE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0" y="228600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"Geliştirici değil baş mimar. Mimari, strateji ve gerekçe sunmak benim sorumluluğum."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040880" y="4297680"/>
            <a:ext cx="13716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40880" y="480060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CTO / VP Engineering ortağı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Klinik satış lideri (B2B SaaS)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Medikal advisory board (3 hekim)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Yatırımcı Sunumu  · 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FINANSAL PROJEKSIYON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yıl — €0'dan €18M ARR'ye.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430000" cy="56692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73736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75120" y="173736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18320" y="173736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11430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0428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(aktif)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23042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3042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418320" y="23042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871216"/>
            <a:ext cx="1143000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871216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(kümülatif)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287121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287121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418320" y="287121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450K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438144"/>
            <a:ext cx="11430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43814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Gelir (€)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343814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€120K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0" y="343814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€2.4M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18320" y="343814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€18M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005072"/>
            <a:ext cx="1143000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00507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Brüt marj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31920" y="400507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%55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400507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%62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418320" y="400507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%68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11430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57200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Yakım (€/ay)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931920" y="45720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€40K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75120" y="45720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€90K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418320" y="45720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€180K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212080"/>
            <a:ext cx="3657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28523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€2M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822960" y="5852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turu hedef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389120" y="5212080"/>
            <a:ext cx="3657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89120" y="5212080"/>
            <a:ext cx="109728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528523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ay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4663440" y="5852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229600" y="5212080"/>
            <a:ext cx="3657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600" y="5212080"/>
            <a:ext cx="109728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03920" y="528523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%15-25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8503920" y="5852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sonrası dilim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Yatırımcı Sunumu  ·  2026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ŞIMDI?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Üç dalga aynı kıyıda buluşuyor.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137160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TALEP TARAFI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ve millennial kuşağı estetiği "yaşa karşı savaş" yerine "kendine bakım" olarak görüyor. Erken yaşta giriş.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200400"/>
            <a:ext cx="137160" cy="118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ARZ TARAFI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estetik turizminde dünya lideri — ama dağınık. Kategoride lider markaya açık talep var.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572000"/>
            <a:ext cx="137160" cy="11887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074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destekli skorlama, görüntü analizi ve veri toplama maliyeti 5 yıl öncesinin %10'una indi.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Pencere 18-24 ay. Bu kategoride ikinci olmak — olmamaktır.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Yatırımcı Sunumu  · 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YATIRIM ÇAĞRISI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Estelongy'nin bir sonraki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adımı için ortak arıyoruz.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3657600" cy="1554480"/>
          </a:xfrm>
          <a:prstGeom prst="rect">
            <a:avLst/>
          </a:prstGeom>
          <a:solidFill>
            <a:srgbClr val="0F216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023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€2M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4709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turu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5029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/ pre-money €10M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3931920"/>
            <a:ext cx="3657600" cy="1554480"/>
          </a:xfrm>
          <a:prstGeom prst="rect">
            <a:avLst/>
          </a:prstGeom>
          <a:solidFill>
            <a:srgbClr val="0F216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4023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ay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17720" y="4709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5029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2 → Faz 3 ölçeklenme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3931920"/>
            <a:ext cx="3657600" cy="1554480"/>
          </a:xfrm>
          <a:prstGeom prst="rect">
            <a:avLst/>
          </a:prstGeom>
          <a:solidFill>
            <a:srgbClr val="0F216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4023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458200" y="4709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şehir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58200" y="5029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İstanbul · Ankara · İzmir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estelongy@gmail.com  ·  estelongy.com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Sağlıklı görünmek için kurulduk. Sektörü değiştirmek için ortağa ihtiyacımız var.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2026-05-13T15:54:11Z</dcterms:created>
  <dcterms:modified xsi:type="dcterms:W3CDTF">2026-05-13T15:54:11Z</dcterms:modified>
</cp:coreProperties>
</file>